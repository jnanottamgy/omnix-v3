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74" r:id="rId2"/>
    <p:sldId id="375" r:id="rId3"/>
    <p:sldId id="257" r:id="rId4"/>
    <p:sldId id="376" r:id="rId5"/>
    <p:sldId id="377" r:id="rId6"/>
    <p:sldId id="378" r:id="rId7"/>
    <p:sldId id="379" r:id="rId8"/>
    <p:sldId id="380" r:id="rId9"/>
    <p:sldId id="382" r:id="rId10"/>
    <p:sldId id="38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0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3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nanottamgy/OMNIX-V3/tree/mai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8540151" y="2198549"/>
            <a:ext cx="3815751" cy="4865961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624553" y="1717633"/>
            <a:ext cx="1047879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&lt;RAMAIAH INSTITUTE OF TECHNOLOGY&gt;_&lt;PRABHAS&gt;</a:t>
            </a:r>
          </a:p>
          <a:p>
            <a:pPr algn="ctr"/>
            <a:r>
              <a:rPr lang="en-US" sz="32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&lt;OMNIX-V3&gt;</a:t>
            </a:r>
          </a:p>
          <a:p>
            <a:pPr algn="ctr"/>
            <a:endParaRPr lang="en-US" sz="32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32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&lt;JNANOTTAM&gt;</a:t>
            </a:r>
          </a:p>
          <a:p>
            <a:pPr algn="ctr"/>
            <a:r>
              <a:rPr lang="en-US" sz="32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&lt;NIKITAA&gt;</a:t>
            </a:r>
          </a:p>
          <a:p>
            <a:pPr algn="ctr"/>
            <a:r>
              <a:rPr lang="en-US" sz="32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&lt;PRANAVI&gt;</a:t>
            </a:r>
          </a:p>
          <a:p>
            <a:pPr algn="ctr"/>
            <a:r>
              <a:rPr lang="en-US" sz="32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&lt;ANUJ&gt;</a:t>
            </a:r>
            <a:br>
              <a:rPr lang="en-US" sz="32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32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063693-D214-3E99-AA18-B569DB4AF028}"/>
              </a:ext>
            </a:extLst>
          </p:cNvPr>
          <p:cNvSpPr txBox="1"/>
          <p:nvPr/>
        </p:nvSpPr>
        <p:spPr>
          <a:xfrm>
            <a:off x="740496" y="1682945"/>
            <a:ext cx="5570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Theme Chosen:</a:t>
            </a:r>
            <a:br>
              <a:rPr lang="en-US" dirty="0"/>
            </a:br>
            <a:r>
              <a:rPr lang="en-US" dirty="0"/>
              <a:t>GenAI Research + Productivity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6D1961-154A-0C1E-CC53-8C2C5CA0B57E}"/>
              </a:ext>
            </a:extLst>
          </p:cNvPr>
          <p:cNvSpPr txBox="1"/>
          <p:nvPr/>
        </p:nvSpPr>
        <p:spPr>
          <a:xfrm>
            <a:off x="6465560" y="3482797"/>
            <a:ext cx="56631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Who Faces This?</a:t>
            </a:r>
            <a:br>
              <a:rPr lang="en-US" dirty="0"/>
            </a:br>
            <a:r>
              <a:rPr lang="en-US" dirty="0"/>
              <a:t>- AI researchers</a:t>
            </a:r>
            <a:br>
              <a:rPr lang="en-US" dirty="0"/>
            </a:br>
            <a:r>
              <a:rPr lang="en-US" dirty="0"/>
              <a:t>- Developers</a:t>
            </a:r>
            <a:br>
              <a:rPr lang="en-US" dirty="0"/>
            </a:br>
            <a:r>
              <a:rPr lang="en-US" dirty="0"/>
              <a:t>- Startup founders</a:t>
            </a:r>
            <a:br>
              <a:rPr lang="en-US" dirty="0"/>
            </a:br>
            <a:r>
              <a:rPr lang="en-US" dirty="0"/>
              <a:t>- Students</a:t>
            </a:r>
            <a:br>
              <a:rPr lang="en-US" dirty="0"/>
            </a:br>
            <a:r>
              <a:rPr lang="en-US" dirty="0"/>
              <a:t>- Productivity-focused users</a:t>
            </a:r>
            <a:br>
              <a:rPr lang="en-US" dirty="0"/>
            </a:br>
            <a:r>
              <a:rPr lang="en-US" dirty="0"/>
              <a:t>- Tech communities</a:t>
            </a:r>
            <a:br>
              <a:rPr lang="en-US" dirty="0"/>
            </a:b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FF2F774-63A3-2EB3-6528-C023FF4D0AE5}"/>
              </a:ext>
            </a:extLst>
          </p:cNvPr>
          <p:cNvSpPr txBox="1"/>
          <p:nvPr/>
        </p:nvSpPr>
        <p:spPr>
          <a:xfrm>
            <a:off x="6465560" y="1647551"/>
            <a:ext cx="53094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Current AI assistants are reactive and session-based.</a:t>
            </a:r>
            <a:br>
              <a:rPr lang="en-US" dirty="0"/>
            </a:br>
            <a:r>
              <a:rPr lang="en-US" dirty="0"/>
              <a:t>They:</a:t>
            </a:r>
            <a:br>
              <a:rPr lang="en-US" dirty="0"/>
            </a:br>
            <a:r>
              <a:rPr lang="en-US" dirty="0"/>
              <a:t>- Do not proactively monitor updates</a:t>
            </a:r>
            <a:br>
              <a:rPr lang="en-US" dirty="0"/>
            </a:br>
            <a:r>
              <a:rPr lang="en-US" dirty="0"/>
              <a:t>- Lose memory between sessions</a:t>
            </a:r>
            <a:br>
              <a:rPr lang="en-US" dirty="0"/>
            </a:br>
            <a:r>
              <a:rPr lang="en-US" dirty="0"/>
              <a:t>- Cannot autonomously manage workflows</a:t>
            </a:r>
            <a:br>
              <a:rPr lang="en-US" dirty="0"/>
            </a:br>
            <a:r>
              <a:rPr lang="en-US" dirty="0"/>
              <a:t>- Lack multi-channel intelligence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FC4AB2-A6F3-4915-0DB9-0B4C56DE572B}"/>
              </a:ext>
            </a:extLst>
          </p:cNvPr>
          <p:cNvSpPr txBox="1"/>
          <p:nvPr/>
        </p:nvSpPr>
        <p:spPr>
          <a:xfrm>
            <a:off x="740495" y="3908560"/>
            <a:ext cx="55705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r>
              <a:rPr lang="en-US" dirty="0"/>
              <a:t>Users constantly:</a:t>
            </a:r>
            <a:br>
              <a:rPr lang="en-US" dirty="0"/>
            </a:br>
            <a:r>
              <a:rPr lang="en-US" dirty="0"/>
              <a:t>- Miss important research updates</a:t>
            </a:r>
            <a:br>
              <a:rPr lang="en-US" dirty="0"/>
            </a:br>
            <a:r>
              <a:rPr lang="en-US" dirty="0"/>
              <a:t>- Switch between multiple communication apps</a:t>
            </a:r>
            <a:br>
              <a:rPr lang="en-US" dirty="0"/>
            </a:br>
            <a:r>
              <a:rPr lang="en-US" dirty="0"/>
              <a:t>- Lose contextual information</a:t>
            </a:r>
            <a:br>
              <a:rPr lang="en-US" dirty="0"/>
            </a:br>
            <a:r>
              <a:rPr lang="en-US" dirty="0"/>
              <a:t>- Face information overload</a:t>
            </a:r>
            <a:br>
              <a:rPr lang="en-US" dirty="0"/>
            </a:br>
            <a:r>
              <a:rPr lang="en-US" dirty="0"/>
              <a:t>- Struggle to manage workflows efficiently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C06D08-B99B-F1C3-684D-5B9F62F149E0}"/>
              </a:ext>
            </a:extLst>
          </p:cNvPr>
          <p:cNvSpPr txBox="1"/>
          <p:nvPr/>
        </p:nvSpPr>
        <p:spPr>
          <a:xfrm>
            <a:off x="740495" y="2524714"/>
            <a:ext cx="5570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Problem:</a:t>
            </a:r>
            <a:br>
              <a:rPr lang="en-US" dirty="0"/>
            </a:br>
            <a:r>
              <a:rPr lang="en-US" dirty="0"/>
              <a:t>The GenAI ecosystem is growing extremely fast with thousands of AI papers, GitHub repositories, tools, frameworks, and updates released daily across multiple platforms.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230836-C5E6-3098-D3FD-94091B7F48DD}"/>
              </a:ext>
            </a:extLst>
          </p:cNvPr>
          <p:cNvSpPr txBox="1"/>
          <p:nvPr/>
        </p:nvSpPr>
        <p:spPr>
          <a:xfrm>
            <a:off x="6465560" y="5548875"/>
            <a:ext cx="55705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Why It Matters:</a:t>
            </a:r>
            <a:br>
              <a:rPr lang="en-US" dirty="0"/>
            </a:br>
            <a:r>
              <a:rPr lang="en-US" dirty="0"/>
              <a:t>Missing critical AI trends and research updates can directly impact innovation, productivity, and decision making.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Existing Solutions:</a:t>
            </a:r>
            <a:br>
              <a:rPr lang="en-US" dirty="0"/>
            </a:br>
            <a:r>
              <a:rPr lang="en-US" dirty="0"/>
              <a:t>- ChatGPT</a:t>
            </a:r>
            <a:br>
              <a:rPr lang="en-US" dirty="0"/>
            </a:br>
            <a:r>
              <a:rPr lang="en-US" dirty="0"/>
              <a:t>- Notion AI</a:t>
            </a:r>
            <a:br>
              <a:rPr lang="en-US" dirty="0"/>
            </a:br>
            <a:r>
              <a:rPr lang="en-US" dirty="0"/>
              <a:t>- Slack bots</a:t>
            </a:r>
            <a:br>
              <a:rPr lang="en-US" dirty="0"/>
            </a:br>
            <a:r>
              <a:rPr lang="en-US" dirty="0"/>
              <a:t>- Research aggregators</a:t>
            </a:r>
            <a:br>
              <a:rPr lang="en-US" dirty="0"/>
            </a:br>
            <a:r>
              <a:rPr lang="en-US" dirty="0"/>
              <a:t>- GitHub notifications</a:t>
            </a:r>
            <a:br>
              <a:rPr lang="en-US" dirty="0"/>
            </a:br>
            <a:r>
              <a:rPr lang="en-US" dirty="0"/>
              <a:t>- AI news platforms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EBA843D-6A48-E01A-2529-7CB4E41C4B59}"/>
              </a:ext>
            </a:extLst>
          </p:cNvPr>
          <p:cNvSpPr txBox="1"/>
          <p:nvPr/>
        </p:nvSpPr>
        <p:spPr>
          <a:xfrm>
            <a:off x="6500066" y="2413337"/>
            <a:ext cx="55705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Opportunity:</a:t>
            </a:r>
            <a:br>
              <a:rPr lang="en-US" dirty="0"/>
            </a:br>
            <a:r>
              <a:rPr lang="en-US" dirty="0"/>
              <a:t>Build an autonomous AI operating system that:</a:t>
            </a:r>
            <a:br>
              <a:rPr lang="en-US" dirty="0"/>
            </a:br>
            <a:r>
              <a:rPr lang="en-US" dirty="0"/>
              <a:t>- Monitors research continuously</a:t>
            </a:r>
            <a:br>
              <a:rPr lang="en-US" dirty="0"/>
            </a:br>
            <a:r>
              <a:rPr lang="en-US" dirty="0"/>
              <a:t>- Maintains memory</a:t>
            </a:r>
            <a:br>
              <a:rPr lang="en-US" dirty="0"/>
            </a:br>
            <a:r>
              <a:rPr lang="en-US" dirty="0"/>
              <a:t>- Understands context</a:t>
            </a:r>
            <a:br>
              <a:rPr lang="en-US" dirty="0"/>
            </a:br>
            <a:r>
              <a:rPr lang="en-US" dirty="0"/>
              <a:t>- Delivers proactive insights</a:t>
            </a:r>
            <a:br>
              <a:rPr lang="en-US" dirty="0"/>
            </a:br>
            <a:r>
              <a:rPr lang="en-US" dirty="0"/>
              <a:t>- Operates across multiple communication platforms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A191B9-75E0-7D9C-B931-913F145F000D}"/>
              </a:ext>
            </a:extLst>
          </p:cNvPr>
          <p:cNvSpPr txBox="1"/>
          <p:nvPr/>
        </p:nvSpPr>
        <p:spPr>
          <a:xfrm>
            <a:off x="740495" y="3790666"/>
            <a:ext cx="55705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What’s Missing:</a:t>
            </a:r>
            <a:br>
              <a:rPr lang="en-IN" dirty="0"/>
            </a:br>
            <a:r>
              <a:rPr lang="en-IN" dirty="0"/>
              <a:t>- No unified AI intelligence layer</a:t>
            </a:r>
            <a:br>
              <a:rPr lang="en-IN" dirty="0"/>
            </a:br>
            <a:r>
              <a:rPr lang="en-IN" dirty="0"/>
              <a:t>- No persistent contextual memory</a:t>
            </a:r>
            <a:br>
              <a:rPr lang="en-IN" dirty="0"/>
            </a:br>
            <a:r>
              <a:rPr lang="en-IN" dirty="0"/>
              <a:t>- No autonomous proactive workflows</a:t>
            </a:r>
            <a:br>
              <a:rPr lang="en-IN" dirty="0"/>
            </a:br>
            <a:r>
              <a:rPr lang="en-IN" dirty="0"/>
              <a:t>- No cross-platform orchestration</a:t>
            </a:r>
            <a:br>
              <a:rPr lang="en-IN" dirty="0"/>
            </a:br>
            <a:r>
              <a:rPr lang="en-IN" dirty="0"/>
              <a:t>- No intelligent research aggregation system</a:t>
            </a:r>
            <a:br>
              <a:rPr lang="en-IN" dirty="0"/>
            </a:br>
            <a:r>
              <a:rPr lang="en-IN" dirty="0"/>
              <a:t>- Most systems require manual prompting</a:t>
            </a:r>
            <a:br>
              <a:rPr lang="en-IN" dirty="0"/>
            </a:b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We Built:</a:t>
            </a:r>
            <a:br>
              <a:rPr lang="en-US" dirty="0"/>
            </a:br>
            <a:r>
              <a:rPr lang="en-US" dirty="0"/>
              <a:t>OMNIX — An Autonomous AI Research &amp; Multi-Channel Intelligence System built on the </a:t>
            </a:r>
            <a:r>
              <a:rPr lang="en-US" dirty="0" err="1"/>
              <a:t>OpenClaw</a:t>
            </a:r>
            <a:r>
              <a:rPr lang="en-US" dirty="0"/>
              <a:t> ecosystem.</a:t>
            </a:r>
            <a:br>
              <a:rPr lang="en-US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E278E2-2A05-1EEF-7103-8C0759A93484}"/>
              </a:ext>
            </a:extLst>
          </p:cNvPr>
          <p:cNvSpPr txBox="1"/>
          <p:nvPr/>
        </p:nvSpPr>
        <p:spPr>
          <a:xfrm>
            <a:off x="7104533" y="2249368"/>
            <a:ext cx="557054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Key Features:</a:t>
            </a:r>
            <a:br>
              <a:rPr lang="en-IN" dirty="0"/>
            </a:br>
            <a:r>
              <a:rPr lang="en-IN" dirty="0"/>
              <a:t>- Autonomous AI agents</a:t>
            </a:r>
            <a:br>
              <a:rPr lang="en-IN" dirty="0"/>
            </a:br>
            <a:r>
              <a:rPr lang="en-IN" dirty="0"/>
              <a:t>- Persistent memory system</a:t>
            </a:r>
            <a:br>
              <a:rPr lang="en-IN" dirty="0"/>
            </a:br>
            <a:r>
              <a:rPr lang="en-IN" dirty="0"/>
              <a:t>- Multi-channel communication support</a:t>
            </a:r>
            <a:br>
              <a:rPr lang="en-IN" dirty="0"/>
            </a:br>
            <a:r>
              <a:rPr lang="en-IN" dirty="0"/>
              <a:t>- AI-powered research summarization</a:t>
            </a:r>
            <a:br>
              <a:rPr lang="en-IN" dirty="0"/>
            </a:br>
            <a:r>
              <a:rPr lang="en-IN" dirty="0"/>
              <a:t>- Real-time orchestration</a:t>
            </a:r>
            <a:br>
              <a:rPr lang="en-IN" dirty="0"/>
            </a:br>
            <a:r>
              <a:rPr lang="en-IN" dirty="0"/>
              <a:t>- Proactive notification engine</a:t>
            </a:r>
            <a:br>
              <a:rPr lang="en-IN" dirty="0"/>
            </a:br>
            <a:r>
              <a:rPr lang="en-IN" dirty="0"/>
              <a:t>- Research digest generation</a:t>
            </a:r>
            <a:br>
              <a:rPr lang="en-IN" dirty="0"/>
            </a:br>
            <a:r>
              <a:rPr lang="en-IN" dirty="0"/>
              <a:t>- Document &amp; media intelligence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7964CC-2A10-5E1E-D7DA-B58D9B3972D1}"/>
              </a:ext>
            </a:extLst>
          </p:cNvPr>
          <p:cNvSpPr txBox="1"/>
          <p:nvPr/>
        </p:nvSpPr>
        <p:spPr>
          <a:xfrm>
            <a:off x="895701" y="3465556"/>
            <a:ext cx="55705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Core Idea:</a:t>
            </a:r>
            <a:br>
              <a:rPr lang="en-US" dirty="0"/>
            </a:br>
            <a:r>
              <a:rPr lang="en-US" dirty="0"/>
              <a:t>A continuously operating AI system capable of:</a:t>
            </a:r>
            <a:br>
              <a:rPr lang="en-US" dirty="0"/>
            </a:br>
            <a:r>
              <a:rPr lang="en-US" dirty="0"/>
              <a:t>- Monitoring GenAI research</a:t>
            </a:r>
            <a:br>
              <a:rPr lang="en-US" dirty="0"/>
            </a:br>
            <a:r>
              <a:rPr lang="en-US" dirty="0"/>
              <a:t>- Tracking AI trends</a:t>
            </a:r>
            <a:br>
              <a:rPr lang="en-US" dirty="0"/>
            </a:br>
            <a:r>
              <a:rPr lang="en-US" dirty="0"/>
              <a:t>- Managing communication workflows</a:t>
            </a:r>
            <a:br>
              <a:rPr lang="en-US" dirty="0"/>
            </a:br>
            <a:r>
              <a:rPr lang="en-US" dirty="0"/>
              <a:t>- Maintaining persistent memory</a:t>
            </a:r>
            <a:br>
              <a:rPr lang="en-US" dirty="0"/>
            </a:br>
            <a:r>
              <a:rPr lang="en-US" dirty="0"/>
              <a:t>- Delivering proactive intelligence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Demo/Product Walkthrough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429945" y="1524000"/>
            <a:ext cx="7445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User Flow:</a:t>
            </a:r>
            <a:br>
              <a:rPr lang="en-IN" sz="1200" dirty="0"/>
            </a:br>
            <a:br>
              <a:rPr lang="en-IN" sz="1200" dirty="0"/>
            </a:br>
            <a:r>
              <a:rPr lang="en-IN" sz="1200" dirty="0"/>
              <a:t>1. User connects communication platforms</a:t>
            </a:r>
            <a:br>
              <a:rPr lang="en-IN" sz="1200" dirty="0"/>
            </a:br>
            <a:r>
              <a:rPr lang="en-IN" sz="1200" dirty="0"/>
              <a:t>(Discord, Telegram, Slack, etc.)</a:t>
            </a:r>
            <a:br>
              <a:rPr lang="en-IN" sz="1200" dirty="0"/>
            </a:br>
            <a:br>
              <a:rPr lang="en-IN" sz="1200" dirty="0"/>
            </a:br>
            <a:endParaRPr lang="en-IN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F02708-79F4-E975-A3B9-E5E14C932CEF}"/>
              </a:ext>
            </a:extLst>
          </p:cNvPr>
          <p:cNvSpPr txBox="1"/>
          <p:nvPr/>
        </p:nvSpPr>
        <p:spPr>
          <a:xfrm>
            <a:off x="429945" y="5438215"/>
            <a:ext cx="7445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5. User receives:</a:t>
            </a:r>
            <a:br>
              <a:rPr lang="en-US" sz="1200" dirty="0"/>
            </a:br>
            <a:r>
              <a:rPr lang="en-US" sz="1200" dirty="0"/>
              <a:t>- Summaries</a:t>
            </a:r>
            <a:br>
              <a:rPr lang="en-US" sz="1200" dirty="0"/>
            </a:br>
            <a:r>
              <a:rPr lang="en-US" sz="1200" dirty="0"/>
              <a:t>- Alerts</a:t>
            </a:r>
            <a:br>
              <a:rPr lang="en-US" sz="1200" dirty="0"/>
            </a:br>
            <a:r>
              <a:rPr lang="en-US" sz="1200" dirty="0"/>
              <a:t>- Notifications</a:t>
            </a:r>
            <a:br>
              <a:rPr lang="en-US" sz="1200" dirty="0"/>
            </a:br>
            <a:r>
              <a:rPr lang="en-US" sz="1200" dirty="0"/>
              <a:t>- Workflow recommendations</a:t>
            </a:r>
            <a:br>
              <a:rPr lang="en-US" sz="1200" dirty="0"/>
            </a:br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1C2E60-9869-052F-B10E-D5211EAF6FEB}"/>
              </a:ext>
            </a:extLst>
          </p:cNvPr>
          <p:cNvSpPr txBox="1"/>
          <p:nvPr/>
        </p:nvSpPr>
        <p:spPr>
          <a:xfrm>
            <a:off x="429945" y="4181587"/>
            <a:ext cx="7445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1200" dirty="0"/>
            </a:br>
            <a:r>
              <a:rPr lang="en-US" sz="1200" dirty="0"/>
              <a:t>4. Important updates are:</a:t>
            </a:r>
            <a:br>
              <a:rPr lang="en-US" sz="1200" dirty="0"/>
            </a:br>
            <a:r>
              <a:rPr lang="en-US" sz="1200" dirty="0"/>
              <a:t>- Prioritized</a:t>
            </a:r>
            <a:br>
              <a:rPr lang="en-US" sz="1200" dirty="0"/>
            </a:br>
            <a:r>
              <a:rPr lang="en-US" sz="1200" dirty="0"/>
              <a:t>- Stored in memory</a:t>
            </a:r>
            <a:br>
              <a:rPr lang="en-US" sz="1200" dirty="0"/>
            </a:br>
            <a:r>
              <a:rPr lang="en-US" sz="1200" dirty="0"/>
              <a:t>- Sent as intelligent digests</a:t>
            </a:r>
            <a:br>
              <a:rPr lang="en-US" sz="1200" dirty="0"/>
            </a:br>
            <a:endParaRPr lang="en-IN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3CAB35-1D2C-1600-4EA8-82D93709591B}"/>
              </a:ext>
            </a:extLst>
          </p:cNvPr>
          <p:cNvSpPr txBox="1"/>
          <p:nvPr/>
        </p:nvSpPr>
        <p:spPr>
          <a:xfrm>
            <a:off x="429945" y="3845826"/>
            <a:ext cx="74459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3. AI agents process and summarize information</a:t>
            </a:r>
            <a:br>
              <a:rPr lang="en-IN" sz="1200" dirty="0"/>
            </a:br>
            <a:endParaRPr lang="en-IN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068A3E-6B6A-A79D-2E46-0E7AC7F68225}"/>
              </a:ext>
            </a:extLst>
          </p:cNvPr>
          <p:cNvSpPr txBox="1"/>
          <p:nvPr/>
        </p:nvSpPr>
        <p:spPr>
          <a:xfrm>
            <a:off x="429945" y="2459671"/>
            <a:ext cx="7445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sz="1200" dirty="0"/>
            </a:br>
            <a:r>
              <a:rPr lang="en-US" sz="1200" dirty="0"/>
              <a:t>2. OMNIX continuously monitors:</a:t>
            </a:r>
            <a:br>
              <a:rPr lang="en-US" sz="1200" dirty="0"/>
            </a:br>
            <a:r>
              <a:rPr lang="en-US" sz="1200" dirty="0"/>
              <a:t>- AI papers</a:t>
            </a:r>
            <a:br>
              <a:rPr lang="en-US" sz="1200" dirty="0"/>
            </a:br>
            <a:r>
              <a:rPr lang="en-US" sz="1200" dirty="0"/>
              <a:t>- GitHub repos</a:t>
            </a:r>
            <a:br>
              <a:rPr lang="en-US" sz="1200" dirty="0"/>
            </a:br>
            <a:r>
              <a:rPr lang="en-US" sz="1200" dirty="0"/>
              <a:t>- Research trends</a:t>
            </a:r>
            <a:br>
              <a:rPr lang="en-US" sz="1200" dirty="0"/>
            </a:br>
            <a:r>
              <a:rPr lang="en-US" sz="1200" dirty="0"/>
              <a:t>- User workflows</a:t>
            </a:r>
            <a:endParaRPr lang="en-IN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CE8077-2B44-B6AE-2315-8572B94493A8}"/>
              </a:ext>
            </a:extLst>
          </p:cNvPr>
          <p:cNvSpPr txBox="1"/>
          <p:nvPr/>
        </p:nvSpPr>
        <p:spPr>
          <a:xfrm>
            <a:off x="6189515" y="2924959"/>
            <a:ext cx="74459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Key Demo Highlights:</a:t>
            </a:r>
            <a:br>
              <a:rPr lang="en-US" sz="1200" dirty="0"/>
            </a:br>
            <a:r>
              <a:rPr lang="en-US" sz="1200" dirty="0"/>
              <a:t>- Autonomous research monitoring</a:t>
            </a:r>
            <a:br>
              <a:rPr lang="en-US" sz="1200" dirty="0"/>
            </a:br>
            <a:r>
              <a:rPr lang="en-US" sz="1200" dirty="0"/>
              <a:t>- Real-time AI summarization</a:t>
            </a:r>
            <a:br>
              <a:rPr lang="en-US" sz="1200" dirty="0"/>
            </a:br>
            <a:r>
              <a:rPr lang="en-US" sz="1200" dirty="0"/>
              <a:t>- Persistent contextual memory</a:t>
            </a:r>
            <a:br>
              <a:rPr lang="en-US" sz="1200" dirty="0"/>
            </a:br>
            <a:r>
              <a:rPr lang="en-US" sz="1200" dirty="0"/>
              <a:t>- Multi-platform orchestration</a:t>
            </a:r>
            <a:br>
              <a:rPr lang="en-US" sz="1200" dirty="0"/>
            </a:br>
            <a:r>
              <a:rPr lang="en-US" sz="1200" dirty="0"/>
              <a:t>- Intelligent workflow automation</a:t>
            </a:r>
            <a:endParaRPr lang="en-IN" sz="1200" dirty="0"/>
          </a:p>
        </p:txBody>
      </p:sp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194F06-B713-0AE4-96C7-DB2C1D4EC23F}"/>
              </a:ext>
            </a:extLst>
          </p:cNvPr>
          <p:cNvSpPr txBox="1"/>
          <p:nvPr/>
        </p:nvSpPr>
        <p:spPr>
          <a:xfrm>
            <a:off x="429945" y="1524000"/>
            <a:ext cx="30982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Frontend:</a:t>
            </a:r>
            <a:br>
              <a:rPr lang="en-IN" sz="1200" dirty="0"/>
            </a:br>
            <a:r>
              <a:rPr lang="en-IN" sz="1200" dirty="0"/>
              <a:t>- HTML</a:t>
            </a:r>
            <a:br>
              <a:rPr lang="en-IN" sz="1200" dirty="0"/>
            </a:br>
            <a:r>
              <a:rPr lang="en-IN" sz="1200" dirty="0"/>
              <a:t>- CSS</a:t>
            </a:r>
            <a:br>
              <a:rPr lang="en-IN" sz="1200" dirty="0"/>
            </a:br>
            <a:r>
              <a:rPr lang="en-IN" sz="1200" dirty="0"/>
              <a:t>- JavaScript</a:t>
            </a:r>
            <a:br>
              <a:rPr lang="en-IN" sz="1200" dirty="0"/>
            </a:br>
            <a:r>
              <a:rPr lang="en-IN" sz="1200" dirty="0"/>
              <a:t>- TypeScript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53AA9F0-6A02-FBA6-702C-06CABFCD453E}"/>
              </a:ext>
            </a:extLst>
          </p:cNvPr>
          <p:cNvSpPr txBox="1"/>
          <p:nvPr/>
        </p:nvSpPr>
        <p:spPr>
          <a:xfrm>
            <a:off x="429943" y="5171777"/>
            <a:ext cx="30982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Integrations:</a:t>
            </a:r>
            <a:br>
              <a:rPr lang="en-US" sz="1200" dirty="0"/>
            </a:br>
            <a:r>
              <a:rPr lang="en-US" sz="1200" dirty="0"/>
              <a:t>- GitHub APIs</a:t>
            </a:r>
            <a:br>
              <a:rPr lang="en-US" sz="1200" dirty="0"/>
            </a:br>
            <a:r>
              <a:rPr lang="en-US" sz="1200" dirty="0"/>
              <a:t>- Communication APIs</a:t>
            </a:r>
            <a:br>
              <a:rPr lang="en-US" sz="1200" dirty="0"/>
            </a:br>
            <a:r>
              <a:rPr lang="en-US" sz="1200" dirty="0"/>
              <a:t>- </a:t>
            </a:r>
            <a:r>
              <a:rPr lang="en-US" sz="1200" dirty="0" err="1"/>
              <a:t>OpenClaw</a:t>
            </a:r>
            <a:r>
              <a:rPr lang="en-US" sz="1200" dirty="0"/>
              <a:t> ecosystem</a:t>
            </a:r>
            <a:endParaRPr lang="en-IN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79B59F-2F96-404D-D5F2-42C75B9EEA81}"/>
              </a:ext>
            </a:extLst>
          </p:cNvPr>
          <p:cNvSpPr txBox="1"/>
          <p:nvPr/>
        </p:nvSpPr>
        <p:spPr>
          <a:xfrm>
            <a:off x="429944" y="3810506"/>
            <a:ext cx="30982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AI Stack:</a:t>
            </a:r>
            <a:br>
              <a:rPr lang="en-US" sz="1200" dirty="0"/>
            </a:br>
            <a:r>
              <a:rPr lang="en-US" sz="1200" dirty="0"/>
              <a:t>- OpenAI APIs</a:t>
            </a:r>
            <a:br>
              <a:rPr lang="en-US" sz="1200" dirty="0"/>
            </a:br>
            <a:r>
              <a:rPr lang="en-US" sz="1200" dirty="0"/>
              <a:t>- LLM orchestration</a:t>
            </a:r>
            <a:br>
              <a:rPr lang="en-US" sz="1200" dirty="0"/>
            </a:br>
            <a:r>
              <a:rPr lang="en-US" sz="1200" dirty="0"/>
              <a:t>- Autonomous AI agents</a:t>
            </a:r>
            <a:br>
              <a:rPr lang="en-US" sz="1200" dirty="0"/>
            </a:br>
            <a:r>
              <a:rPr lang="en-US" sz="1200" dirty="0"/>
              <a:t>- Context-aware reasoning</a:t>
            </a:r>
            <a:br>
              <a:rPr lang="en-US" sz="1200" dirty="0"/>
            </a:br>
            <a:r>
              <a:rPr lang="en-US" sz="1200" dirty="0"/>
              <a:t>- Memory-augmented intelligence</a:t>
            </a:r>
            <a:endParaRPr lang="en-IN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188CD6-D1FC-F944-8843-DC752FFB1336}"/>
              </a:ext>
            </a:extLst>
          </p:cNvPr>
          <p:cNvSpPr txBox="1"/>
          <p:nvPr/>
        </p:nvSpPr>
        <p:spPr>
          <a:xfrm>
            <a:off x="429945" y="2732164"/>
            <a:ext cx="309825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Backend:</a:t>
            </a:r>
            <a:br>
              <a:rPr lang="en-IN" sz="1200" dirty="0"/>
            </a:br>
            <a:r>
              <a:rPr lang="en-IN" sz="1200" dirty="0"/>
              <a:t>- Python</a:t>
            </a:r>
            <a:br>
              <a:rPr lang="en-IN" sz="1200" dirty="0"/>
            </a:br>
            <a:r>
              <a:rPr lang="en-IN" sz="1200" dirty="0"/>
              <a:t>- </a:t>
            </a:r>
            <a:r>
              <a:rPr lang="en-IN" sz="1200" dirty="0" err="1"/>
              <a:t>FastAPI</a:t>
            </a:r>
            <a:br>
              <a:rPr lang="en-IN" sz="1200" dirty="0"/>
            </a:br>
            <a:r>
              <a:rPr lang="en-IN" sz="1200" dirty="0"/>
              <a:t>- Node.js</a:t>
            </a:r>
            <a:br>
              <a:rPr lang="en-IN" sz="1200" dirty="0"/>
            </a:br>
            <a:r>
              <a:rPr lang="en-IN" sz="1200" dirty="0"/>
              <a:t>- </a:t>
            </a:r>
            <a:r>
              <a:rPr lang="en-IN" sz="1200" dirty="0" err="1"/>
              <a:t>WebSockets</a:t>
            </a:r>
            <a:endParaRPr lang="en-IN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B1E8F0-D161-58E4-9EDA-EA25B3CD42D2}"/>
              </a:ext>
            </a:extLst>
          </p:cNvPr>
          <p:cNvSpPr txBox="1"/>
          <p:nvPr/>
        </p:nvSpPr>
        <p:spPr>
          <a:xfrm>
            <a:off x="5922095" y="2644170"/>
            <a:ext cx="309825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sz="1200" dirty="0"/>
            </a:br>
            <a:r>
              <a:rPr lang="en-IN" sz="1200" dirty="0"/>
              <a:t>Architecture Flow:</a:t>
            </a:r>
            <a:br>
              <a:rPr lang="en-IN" sz="1200" dirty="0"/>
            </a:br>
            <a:r>
              <a:rPr lang="en-IN" sz="1200" dirty="0"/>
              <a:t>Research Sources →</a:t>
            </a:r>
            <a:br>
              <a:rPr lang="en-IN" sz="1200" dirty="0"/>
            </a:br>
            <a:r>
              <a:rPr lang="en-IN" sz="1200" dirty="0"/>
              <a:t>AI Agents →</a:t>
            </a:r>
            <a:br>
              <a:rPr lang="en-IN" sz="1200" dirty="0"/>
            </a:br>
            <a:r>
              <a:rPr lang="en-IN" sz="1200" dirty="0"/>
              <a:t>Memory System →</a:t>
            </a:r>
            <a:br>
              <a:rPr lang="en-IN" sz="1200" dirty="0"/>
            </a:br>
            <a:r>
              <a:rPr lang="en-IN" sz="1200" dirty="0"/>
              <a:t>Context Engine →</a:t>
            </a:r>
            <a:br>
              <a:rPr lang="en-IN" sz="1200" dirty="0"/>
            </a:br>
            <a:r>
              <a:rPr lang="en-IN" sz="1200" dirty="0"/>
              <a:t>Summarization →</a:t>
            </a:r>
            <a:br>
              <a:rPr lang="en-IN" sz="1200" dirty="0"/>
            </a:br>
            <a:r>
              <a:rPr lang="en-IN" sz="1200" dirty="0"/>
              <a:t>Multi-Channel Delivery</a:t>
            </a:r>
          </a:p>
        </p:txBody>
      </p:sp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AI Research Monitoring</a:t>
            </a:r>
            <a:br>
              <a:rPr lang="en-US" dirty="0"/>
            </a:br>
            <a:r>
              <a:rPr lang="en-US" dirty="0"/>
              <a:t>Tracks latest GenAI breakthroughs automatically.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BC99C4-CBFA-B684-E08D-165DF6C6DEF8}"/>
              </a:ext>
            </a:extLst>
          </p:cNvPr>
          <p:cNvSpPr txBox="1"/>
          <p:nvPr/>
        </p:nvSpPr>
        <p:spPr>
          <a:xfrm>
            <a:off x="6456934" y="1464409"/>
            <a:ext cx="55705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dirty="0"/>
            </a:br>
            <a:r>
              <a:rPr lang="en-IN" dirty="0"/>
              <a:t>Scale Potential:</a:t>
            </a:r>
            <a:br>
              <a:rPr lang="en-IN" dirty="0"/>
            </a:br>
            <a:r>
              <a:rPr lang="en-IN" dirty="0"/>
              <a:t>- Enterprise AI copilots</a:t>
            </a:r>
            <a:br>
              <a:rPr lang="en-IN" dirty="0"/>
            </a:br>
            <a:r>
              <a:rPr lang="en-IN" dirty="0"/>
              <a:t>- Research intelligence platforms</a:t>
            </a:r>
            <a:br>
              <a:rPr lang="en-IN" dirty="0"/>
            </a:br>
            <a:r>
              <a:rPr lang="en-IN" dirty="0"/>
              <a:t>- Autonomous productivity systems</a:t>
            </a:r>
            <a:br>
              <a:rPr lang="en-IN" dirty="0"/>
            </a:br>
            <a:r>
              <a:rPr lang="en-IN" dirty="0"/>
              <a:t>- AI operating systems</a:t>
            </a:r>
            <a:br>
              <a:rPr lang="en-IN" dirty="0"/>
            </a:br>
            <a:r>
              <a:rPr lang="en-IN" dirty="0"/>
              <a:t>- Multi-channel enterprise orchestration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E73289-9FB2-CAB0-CF0B-C50CF1B4AD96}"/>
              </a:ext>
            </a:extLst>
          </p:cNvPr>
          <p:cNvSpPr txBox="1"/>
          <p:nvPr/>
        </p:nvSpPr>
        <p:spPr>
          <a:xfrm>
            <a:off x="638795" y="5073572"/>
            <a:ext cx="5570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4. Enterprise R&amp;D</a:t>
            </a:r>
            <a:br>
              <a:rPr lang="en-US" dirty="0"/>
            </a:br>
            <a:r>
              <a:rPr lang="en-US" dirty="0"/>
              <a:t>Provides intelligent research aggregation and analysis.</a:t>
            </a:r>
            <a:br>
              <a:rPr lang="en-US" dirty="0"/>
            </a:b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04D77C-1260-ECBD-5B6E-FCCC1384E9EF}"/>
              </a:ext>
            </a:extLst>
          </p:cNvPr>
          <p:cNvSpPr txBox="1"/>
          <p:nvPr/>
        </p:nvSpPr>
        <p:spPr>
          <a:xfrm>
            <a:off x="740495" y="3918806"/>
            <a:ext cx="55705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r>
              <a:rPr lang="en-US" dirty="0"/>
              <a:t>3. Productivity Automation</a:t>
            </a:r>
            <a:br>
              <a:rPr lang="en-US" dirty="0"/>
            </a:br>
            <a:r>
              <a:rPr lang="en-US" dirty="0"/>
              <a:t>Centralizes workflows and communication intelligence.</a:t>
            </a:r>
          </a:p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751D1D-76BC-F08F-8EC0-7B2B64289044}"/>
              </a:ext>
            </a:extLst>
          </p:cNvPr>
          <p:cNvSpPr txBox="1"/>
          <p:nvPr/>
        </p:nvSpPr>
        <p:spPr>
          <a:xfrm>
            <a:off x="740496" y="2883878"/>
            <a:ext cx="5570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Startup Intelligence</a:t>
            </a:r>
            <a:br>
              <a:rPr lang="en-US" dirty="0"/>
            </a:br>
            <a:r>
              <a:rPr lang="en-US" dirty="0"/>
              <a:t>Helps startups monitor competitors and emerging technologies.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612EA8-E8D2-C6E8-E728-255CD3CAD8E2}"/>
              </a:ext>
            </a:extLst>
          </p:cNvPr>
          <p:cNvSpPr txBox="1"/>
          <p:nvPr/>
        </p:nvSpPr>
        <p:spPr>
          <a:xfrm>
            <a:off x="6456933" y="3807208"/>
            <a:ext cx="55705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dirty="0"/>
            </a:br>
            <a:r>
              <a:rPr lang="en-US" dirty="0"/>
              <a:t>Business Impact:</a:t>
            </a:r>
            <a:br>
              <a:rPr lang="en-US" dirty="0"/>
            </a:br>
            <a:r>
              <a:rPr lang="en-US" dirty="0"/>
              <a:t>Reduces information overload while increasing productivity and contextual awareness.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1090516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Why OMNIX Stands Out:</a:t>
            </a:r>
          </a:p>
          <a:p>
            <a:endParaRPr lang="en-IN" dirty="0"/>
          </a:p>
          <a:p>
            <a:r>
              <a:rPr lang="en-IN" dirty="0"/>
              <a:t>1. Persistent Contextual Memory</a:t>
            </a:r>
          </a:p>
          <a:p>
            <a:r>
              <a:rPr lang="en-IN" dirty="0"/>
              <a:t>Unlike traditional AI assistants, OMNIX remembers long-term workflows, preferences, and contextual information.</a:t>
            </a:r>
          </a:p>
          <a:p>
            <a:endParaRPr lang="en-IN" dirty="0"/>
          </a:p>
          <a:p>
            <a:r>
              <a:rPr lang="en-IN" dirty="0"/>
              <a:t>2. Autonomous Proactive Execution</a:t>
            </a:r>
          </a:p>
          <a:p>
            <a:r>
              <a:rPr lang="en-IN" dirty="0"/>
              <a:t>OMNIX operates continuously without waiting for prompts.</a:t>
            </a:r>
          </a:p>
          <a:p>
            <a:endParaRPr lang="en-IN" dirty="0"/>
          </a:p>
          <a:p>
            <a:r>
              <a:rPr lang="en-IN" dirty="0"/>
              <a:t>3. Multi-Channel Intelligence</a:t>
            </a:r>
          </a:p>
          <a:p>
            <a:r>
              <a:rPr lang="en-IN" dirty="0"/>
              <a:t>Unified orchestration across communication platforms.</a:t>
            </a:r>
          </a:p>
          <a:p>
            <a:endParaRPr lang="en-IN" dirty="0"/>
          </a:p>
          <a:p>
            <a:r>
              <a:rPr lang="en-IN" dirty="0"/>
              <a:t>4. AI Research Intelligence</a:t>
            </a:r>
          </a:p>
          <a:p>
            <a:r>
              <a:rPr lang="en-IN" dirty="0"/>
              <a:t>Combines productivity + GenAI monitoring into one ecosystem.</a:t>
            </a:r>
          </a:p>
          <a:p>
            <a:endParaRPr lang="en-IN" dirty="0"/>
          </a:p>
          <a:p>
            <a:r>
              <a:rPr lang="en-IN" dirty="0"/>
              <a:t>Strong MOAT:</a:t>
            </a:r>
          </a:p>
          <a:p>
            <a:r>
              <a:rPr lang="en-IN" dirty="0"/>
              <a:t>- Persistent memory architecture</a:t>
            </a:r>
          </a:p>
          <a:p>
            <a:r>
              <a:rPr lang="en-IN" dirty="0"/>
              <a:t>- Autonomous AI orchestration engine</a:t>
            </a:r>
          </a:p>
        </p:txBody>
      </p:sp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Link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GitHub Repo: </a:t>
            </a:r>
            <a:r>
              <a:rPr lang="en-IN" dirty="0">
                <a:hlinkClick r:id="rId3"/>
              </a:rPr>
              <a:t>https://github.com/jnanottamgy/OMNIX-V3/tree/main</a:t>
            </a:r>
            <a:endParaRPr lang="en-IN" dirty="0"/>
          </a:p>
          <a:p>
            <a:br>
              <a:rPr lang="en-IN" dirty="0"/>
            </a:br>
            <a:r>
              <a:rPr lang="en-IN" dirty="0"/>
              <a:t>EVERYTHING IS INCLUDED IN THE REPO</a:t>
            </a:r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1137311" y="1768753"/>
            <a:ext cx="557054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Future Scope of OMNIX</a:t>
            </a:r>
          </a:p>
          <a:p>
            <a:endParaRPr lang="en-IN" dirty="0"/>
          </a:p>
          <a:p>
            <a:r>
              <a:rPr lang="en-IN" dirty="0"/>
              <a:t>- Enterprise AI Operating Systems</a:t>
            </a:r>
          </a:p>
          <a:p>
            <a:r>
              <a:rPr lang="en-IN" dirty="0"/>
              <a:t>- Autonomous AI Copilots</a:t>
            </a:r>
          </a:p>
          <a:p>
            <a:r>
              <a:rPr lang="en-IN" dirty="0"/>
              <a:t>- Edge + Cloud AI ecosystems</a:t>
            </a:r>
          </a:p>
          <a:p>
            <a:r>
              <a:rPr lang="en-IN" dirty="0"/>
              <a:t>- Digital memory infrastructure</a:t>
            </a:r>
          </a:p>
          <a:p>
            <a:r>
              <a:rPr lang="en-IN" dirty="0"/>
              <a:t>- Autonomous productivity intelligence</a:t>
            </a:r>
          </a:p>
          <a:p>
            <a:r>
              <a:rPr lang="en-IN" dirty="0"/>
              <a:t>- AI-powered workflow orchestration</a:t>
            </a:r>
          </a:p>
          <a:p>
            <a:endParaRPr lang="en-IN" dirty="0"/>
          </a:p>
          <a:p>
            <a:r>
              <a:rPr lang="en-IN" dirty="0"/>
              <a:t>Vision:</a:t>
            </a:r>
          </a:p>
          <a:p>
            <a:r>
              <a:rPr lang="en-IN" dirty="0"/>
              <a:t>To build a continuously operating AI intelligence ecosystem capable of becoming a true digital second brain.</a:t>
            </a:r>
          </a:p>
        </p:txBody>
      </p:sp>
    </p:spTree>
    <p:extLst>
      <p:ext uri="{BB962C8B-B14F-4D97-AF65-F5344CB8AC3E}">
        <p14:creationId xmlns:p14="http://schemas.microsoft.com/office/powerpoint/2010/main" val="230823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900</Words>
  <Application>Microsoft Office PowerPoint</Application>
  <PresentationFormat>Widescreen</PresentationFormat>
  <Paragraphs>95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Berlin Sans FB Demi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itsmejnanottam@outlook.com</cp:lastModifiedBy>
  <cp:revision>4</cp:revision>
  <dcterms:created xsi:type="dcterms:W3CDTF">2026-04-27T09:11:02Z</dcterms:created>
  <dcterms:modified xsi:type="dcterms:W3CDTF">2026-05-08T16:26:09Z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